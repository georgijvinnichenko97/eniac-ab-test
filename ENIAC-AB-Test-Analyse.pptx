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Raleway" pitchFamily="2" charset="0"/>
      <p:regular r:id="rId12"/>
    </p:embeddedFont>
    <p:embeddedFont>
      <p:font typeface="Roboto" panose="02000000000000000000" pitchFamily="2" charset="0"/>
      <p:regular r:id="rId13"/>
    </p:embeddedFont>
    <p:embeddedFont>
      <p:font typeface="Roboto Bold" panose="02000000000000000000" charset="0"/>
      <p:regular r:id="rId14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180"/>
      </p:cViewPr>
      <p:guideLst/>
    </p:cSldViewPr>
  </p:slideViewPr>
  <p:notesTextViewPr>
    <p:cViewPr>
      <p:scale>
        <a:sx n="176" d="100"/>
        <a:sy n="176" d="100"/>
      </p:scale>
      <p:origin x="0" y="0"/>
    </p:cViewPr>
  </p:notesTextViewPr>
  <p:notesViewPr>
    <p:cSldViewPr snapToGrid="0" snapToObjects="1">
      <p:cViewPr varScale="1">
        <p:scale>
          <a:sx n="100" d="100"/>
          <a:sy n="100" d="100"/>
        </p:scale>
        <p:origin x="5472" y="12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3189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„Hallo zusammen! Ich bin Georgij und zeige euch heute kurz die Ergebnisse von meinem A/B-Test für ENIAC. Das Ziel war es herauszufinden, mit welchem Button-Design wir die besten Ergebnisse erzielen.“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„Wir haben vier Button-Varianten getestet: Rot gegen Weiß und den Text 'SHOP NOW' gegen 'SEE DEALS'. Um den Gewinner zu finden, habe ich mir zwei Dinge angeschaut: Zuerst natürlich die Klickrate, also wie viele Leute überhaupt klicken. Und als zweiten Schritt die Abbruchrate – also wie viele Leute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nach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dem Klick im 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Funnel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wieder abspringen.“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„Hier sind die nackten Zahlen. Mein Chi-Quadrat-Test in Python hat sofort bewiesen: Die Farbe macht einen Unterschied. Die beiden roten Buttons performen deutlich schlechter und sind raus. </a:t>
            </a:r>
          </a:p>
          <a:p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Bei den beiden weißen Buttons (Version A und C) war es sehr knapp. Ich habe dann einen Post-hoc-Test mit einer strengen 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Bonferroni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-Korrektur 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drüberlaufen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lassen. Das Ergebnis: Statistisch gesehen ist die Klickrate bei beiden Buttons absolut gleich. Wir haben hier also ein Unentschieden.“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„Weil die Klicks gleichauf sind, musste ich mir anschauen, was </a:t>
            </a:r>
            <a:r>
              <a:rPr lang="de-DE" sz="18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nach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dem Klick passiert. Und hier ist die Sache extrem eindeutig: Bei Version A brechen nur knapp 62 % der Nutzer ab, bei Version C sind es über 70 %. </a:t>
            </a:r>
          </a:p>
          <a:p>
            <a:endParaRPr lang="de-DE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de-DE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Mein Fazit ist also: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Version A (Weiß 'SHOP NOW') ist der Gewinner. Beide Buttons bringen gleich viele Leute in den </a:t>
            </a:r>
            <a:r>
              <a:rPr lang="de-DE" sz="18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Funnel</a:t>
            </a:r>
            <a:r>
              <a:rPr lang="de-DE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aber Version A bringt sie am Ende zuverlässiger ans Ziel.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583160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ENIAC A/B-Test Analyse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457277"/>
            <a:ext cx="6296860" cy="8174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Datengestützte Empfehlung zur Optimierung der Button-Conversion</a:t>
            </a:r>
            <a:endParaRPr lang="en-US" sz="14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Georgij Vinnichenko</a:t>
            </a: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| September 2026</a:t>
            </a:r>
            <a:endParaRPr lang="en-US" sz="1450" dirty="0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9904073-3B9E-4CF7-9B79-2D02B125F1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96260" y="6153052"/>
            <a:ext cx="1895740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4576"/>
            <a:ext cx="10868745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Was haben wir getestet?</a:t>
            </a:r>
            <a:endParaRPr lang="en-US" sz="2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285180"/>
            <a:ext cx="10868745" cy="9036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563" y="159583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1402918" y="1454845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 Ziel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1402918" y="176212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Identifikation des Button-Designs mit dem höchsten geschäftlichen Wert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2308820"/>
            <a:ext cx="10868745" cy="90368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5563" y="261947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1402918" y="247848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Der Test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0" name="Text 6"/>
          <p:cNvSpPr/>
          <p:nvPr/>
        </p:nvSpPr>
        <p:spPr>
          <a:xfrm>
            <a:off x="1402918" y="278576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A/B/C/D-Test mit 4 Varianten (Farbe: Rot vs. Weiß | Text: 'SHOP NOW' vs. 'SEE DEALS')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3332460"/>
            <a:ext cx="10868745" cy="9036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5563" y="364311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402918" y="350212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Hauptmetrik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4" name="Text 9"/>
          <p:cNvSpPr/>
          <p:nvPr/>
        </p:nvSpPr>
        <p:spPr>
          <a:xfrm>
            <a:off x="1402918" y="380940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Klickrate (CTR) für initiale Nutzeraktivierung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4356100"/>
            <a:ext cx="10868745" cy="90368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5563" y="466675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1"/>
          <p:cNvSpPr/>
          <p:nvPr/>
        </p:nvSpPr>
        <p:spPr>
          <a:xfrm>
            <a:off x="1402918" y="452576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Sekundäre Metrik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18" name="Text 12"/>
          <p:cNvSpPr/>
          <p:nvPr/>
        </p:nvSpPr>
        <p:spPr>
          <a:xfrm>
            <a:off x="1402918" y="4833045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Abbruchrate (Drop-Off Rate) im nachgelagerten Funnel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5379740"/>
            <a:ext cx="10868745" cy="903684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5563" y="5690394"/>
            <a:ext cx="225915" cy="28237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4"/>
          <p:cNvSpPr/>
          <p:nvPr/>
        </p:nvSpPr>
        <p:spPr>
          <a:xfrm>
            <a:off x="1402918" y="5549404"/>
            <a:ext cx="9957642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Hypothese</a:t>
            </a:r>
            <a:endParaRPr lang="en-US" sz="1450" dirty="0">
              <a:solidFill>
                <a:schemeClr val="bg1"/>
              </a:solidFill>
            </a:endParaRPr>
          </a:p>
        </p:txBody>
      </p:sp>
      <p:sp>
        <p:nvSpPr>
          <p:cNvPr id="22" name="Text 15"/>
          <p:cNvSpPr/>
          <p:nvPr/>
        </p:nvSpPr>
        <p:spPr>
          <a:xfrm>
            <a:off x="1402918" y="5856684"/>
            <a:ext cx="9957642" cy="2164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Button-Design hat messbaren, signifikanten Einfluss auf die Klicks</a:t>
            </a:r>
            <a:endParaRPr lang="en-US" sz="1150" dirty="0">
              <a:solidFill>
                <a:schemeClr val="bg1"/>
              </a:solidFill>
            </a:endParaRPr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59006CB5-4A9D-41D1-A5AE-F9C5A4153B9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8338" y="6317442"/>
            <a:ext cx="1453662" cy="54055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9934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Was sagen die Daten?</a:t>
            </a:r>
            <a:endParaRPr lang="en-US" sz="3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409204"/>
            <a:ext cx="5243481" cy="377438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3089" y="1409204"/>
            <a:ext cx="5243481" cy="118298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544801" y="1584722"/>
            <a:ext cx="48162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Erkenntnis 1 – Globaler Test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6544801" y="1958876"/>
            <a:ext cx="481625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Chi-Quadrat-Test beweist eindeutig – Design spielt eine Rolle. Rote Buttons performen signifikant schlechter.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3089" y="2721769"/>
            <a:ext cx="5243481" cy="118298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544801" y="2897287"/>
            <a:ext cx="48162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Erkenntnis 2 – Post-hoc-Test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9" name="Text 4"/>
          <p:cNvSpPr/>
          <p:nvPr/>
        </p:nvSpPr>
        <p:spPr>
          <a:xfrm>
            <a:off x="6544801" y="3271441"/>
            <a:ext cx="4816255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Alle Buttons wurden paarweise verglichen (Bonferroni-Korrektur, Alpha = 0.00833)</a:t>
            </a:r>
            <a:endParaRPr lang="en-US" sz="1200" dirty="0">
              <a:solidFill>
                <a:schemeClr val="bg1"/>
              </a:solidFill>
            </a:endParaRPr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3089" y="4034334"/>
            <a:ext cx="5243481" cy="141188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544801" y="4209852"/>
            <a:ext cx="4816255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chemeClr val="bg1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Schlüsselergebnis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2" name="Text 6"/>
          <p:cNvSpPr/>
          <p:nvPr/>
        </p:nvSpPr>
        <p:spPr>
          <a:xfrm>
            <a:off x="6544801" y="4584005"/>
            <a:ext cx="4816255" cy="6866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chemeClr val="bg1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Zwischen den beiden weißen Buttons (Version A und C) gibt es keinen statistisch signifikanten Unterschied in der Klickrate (p-Wert: 0.46)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13" name="Shape 7"/>
          <p:cNvSpPr/>
          <p:nvPr/>
        </p:nvSpPr>
        <p:spPr>
          <a:xfrm>
            <a:off x="6293089" y="5591969"/>
            <a:ext cx="5243481" cy="540246"/>
          </a:xfrm>
          <a:prstGeom prst="roundRect">
            <a:avLst>
              <a:gd name="adj" fmla="val 12169"/>
            </a:avLst>
          </a:prstGeom>
          <a:solidFill>
            <a:srgbClr val="E1E1EA"/>
          </a:solidFill>
          <a:ln/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49553" y="5788819"/>
            <a:ext cx="195654" cy="15646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801672" y="5747643"/>
            <a:ext cx="5188019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Fazit der Klicks:</a:t>
            </a:r>
            <a:r>
              <a:rPr lang="en-US" sz="12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Unentschieden zwischen Version A und C</a:t>
            </a:r>
            <a:endParaRPr lang="en-US" sz="1200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9B2366B7-C25B-4C35-959D-6605EAFDC6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96260" y="6153052"/>
            <a:ext cx="1895740" cy="7049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91245"/>
            <a:ext cx="6296860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Wer ist der Gewinner?</a:t>
            </a:r>
            <a:endParaRPr lang="en-US" sz="3400" dirty="0"/>
          </a:p>
        </p:txBody>
      </p:sp>
      <p:sp>
        <p:nvSpPr>
          <p:cNvPr id="4" name="Shape 1"/>
          <p:cNvSpPr/>
          <p:nvPr/>
        </p:nvSpPr>
        <p:spPr>
          <a:xfrm>
            <a:off x="5107951" y="1376660"/>
            <a:ext cx="3186727" cy="4890095"/>
          </a:xfrm>
          <a:prstGeom prst="roundRect">
            <a:avLst>
              <a:gd name="adj" fmla="val 393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282175" y="1537295"/>
            <a:ext cx="2838280" cy="5443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Abbruchrate (Drop-Off) im Vergleich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2175" y="2262287"/>
            <a:ext cx="2838280" cy="2584252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600661" y="1557338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153296" y="1617166"/>
            <a:ext cx="2383274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Der Tie-Breaker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9153296" y="2049959"/>
            <a:ext cx="2383274" cy="1071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Da die reine Klickrate unentschieden ist, entscheidet die User Journey nach dem Klick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8600661" y="3442395"/>
            <a:ext cx="392003" cy="392013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153296" y="3502223"/>
            <a:ext cx="2383274" cy="8164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Finale Empfehlung: </a:t>
            </a:r>
            <a:r>
              <a:rPr lang="en-US" sz="1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Version A (Weiß 'SHOP NOW')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9153296" y="4479330"/>
            <a:ext cx="2383274" cy="160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Sie holt initial genauso viele Nutzer ab wie Version C, führt diese jedoch wesentlich zuverlässiger durch den Conversion-Funnel und verhindert teure Kaufabbrüche</a:t>
            </a:r>
            <a:endParaRPr lang="en-US" sz="1350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E3076C99-CB66-4706-AC4C-686D6D2DBF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96260" y="6153052"/>
            <a:ext cx="1895740" cy="704948"/>
          </a:xfrm>
          <a:prstGeom prst="rect">
            <a:avLst/>
          </a:prstGeom>
        </p:spPr>
      </p:pic>
      <p:pic>
        <p:nvPicPr>
          <p:cNvPr id="15" name="Grafik 14">
            <a:extLst>
              <a:ext uri="{FF2B5EF4-FFF2-40B4-BE49-F238E27FC236}">
                <a16:creationId xmlns:a16="http://schemas.microsoft.com/office/drawing/2014/main" id="{94C16D19-F278-4636-8C08-72EF41D645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6866" y="4678574"/>
            <a:ext cx="1228896" cy="46679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D1CD3E32-48E4-45C0-97C6-4F76C05F34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01" y="1425038"/>
            <a:ext cx="10420597" cy="3728853"/>
          </a:xfrm>
          <a:prstGeom prst="rect">
            <a:avLst/>
          </a:prstGeom>
        </p:spPr>
      </p:pic>
      <p:sp>
        <p:nvSpPr>
          <p:cNvPr id="4" name="Textfeld 3">
            <a:extLst>
              <a:ext uri="{FF2B5EF4-FFF2-40B4-BE49-F238E27FC236}">
                <a16:creationId xmlns:a16="http://schemas.microsoft.com/office/drawing/2014/main" id="{7DA78C7A-1F75-4FE9-9B6B-0685225FF5DB}"/>
              </a:ext>
            </a:extLst>
          </p:cNvPr>
          <p:cNvSpPr txBox="1"/>
          <p:nvPr/>
        </p:nvSpPr>
        <p:spPr>
          <a:xfrm>
            <a:off x="4059381" y="2773025"/>
            <a:ext cx="40732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4800" dirty="0">
                <a:solidFill>
                  <a:schemeClr val="bg1"/>
                </a:solidFill>
              </a:rPr>
              <a:t>ENDE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B7E34DF-E2C9-48A9-8746-EDC7F8C048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96260" y="6153052"/>
            <a:ext cx="1895740" cy="704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769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501</Words>
  <Application>Microsoft Office PowerPoint</Application>
  <PresentationFormat>Breitbild</PresentationFormat>
  <Paragraphs>46</Paragraphs>
  <Slides>5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2" baseType="lpstr">
      <vt:lpstr>Raleway</vt:lpstr>
      <vt:lpstr>Roboto Bold</vt:lpstr>
      <vt:lpstr>Roboto</vt:lpstr>
      <vt:lpstr>Arial</vt:lpstr>
      <vt:lpstr>Calibri</vt:lpstr>
      <vt:lpstr>Times New Roman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/>
  <cp:lastModifiedBy>Georgij</cp:lastModifiedBy>
  <cp:revision>4</cp:revision>
  <dcterms:created xsi:type="dcterms:W3CDTF">2026-09-23T08:48:33Z</dcterms:created>
  <dcterms:modified xsi:type="dcterms:W3CDTF">2026-09-23T09:31:06Z</dcterms:modified>
</cp:coreProperties>
</file>